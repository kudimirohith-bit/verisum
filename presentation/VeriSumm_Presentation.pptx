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C98E1E6-1CF2-4BEA-A331-49E3A8B0BB4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8FB55F-C321-462E-BE99-9217DFBFB1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BE95B5-36E5-4439-A75E-96ABD86838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5868A6-0AE4-4AC9-AFAA-655AC9F760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3FBB34-B80C-4970-A8CE-B35DE5EC10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DB8EF6-18CF-4B05-8EF0-B919AF48D0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AE06D6-1B56-4193-ACCE-5366FF3D5B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19D061-B85B-47A2-BD9B-C0CC9B3728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9EFE86-C32C-4D71-83BB-6B44C8D0F6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5B5291-1DA6-4554-BF5A-5D0C81B3A3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93B71F-228C-4378-97BF-2E50A146F2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6133E0-4315-4573-AD1B-42482E4290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40C2A8-4A3E-45F3-B121-CBCAABA940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6583680" y="-1371600"/>
            <a:ext cx="5028840" cy="5028840"/>
          </a:xfrm>
          <a:prstGeom prst="ellipse">
            <a:avLst/>
          </a:prstGeom>
          <a:solidFill>
            <a:srgbClr val="11204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132320" y="-731520"/>
            <a:ext cx="3474360" cy="347436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02920" y="502920"/>
            <a:ext cx="594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VeriSumm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02920" y="1325880"/>
            <a:ext cx="5943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9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A Safety-First Clinical &amp; Biomedical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9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Text Summarization Platform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502920" y="2103120"/>
            <a:ext cx="2286000" cy="360"/>
          </a:xfrm>
          <a:prstGeom prst="line">
            <a:avLst/>
          </a:prstGeom>
          <a:ln w="38100">
            <a:solidFill>
              <a:srgbClr val="1a5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02920" y="228600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Problem Identification  ·  Literature Survey  ·  Research Gaps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Problem Statement  ·  System Architecture  ·  Features  ·  Dataset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02920" y="448056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Course: BCSE306L   |   B.Tech Artificial Intelligence   |   AY 2026-27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411480" y="1645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01  ·  PROBLEM IDENTIFICATION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457200" y="3200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Problem We're Solving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411480" y="1051560"/>
            <a:ext cx="2697120" cy="1234080"/>
          </a:xfrm>
          <a:prstGeom prst="roundRect">
            <a:avLst>
              <a:gd name="adj" fmla="val 5185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411480" y="1115640"/>
            <a:ext cx="2697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00d4aa"/>
                </a:solidFill>
                <a:effectLst/>
                <a:uFillTx/>
                <a:latin typeface="Cambria"/>
                <a:ea typeface="Cambria"/>
              </a:rPr>
              <a:t>2 hrs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411480" y="169164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EHR desk work per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hour of patient care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3319200" y="1051560"/>
            <a:ext cx="2697120" cy="1234080"/>
          </a:xfrm>
          <a:prstGeom prst="roundRect">
            <a:avLst>
              <a:gd name="adj" fmla="val 5185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3319200" y="1115640"/>
            <a:ext cx="2697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00d4aa"/>
                </a:solidFill>
                <a:effectLst/>
                <a:uFillTx/>
                <a:latin typeface="Cambria"/>
                <a:ea typeface="Cambria"/>
              </a:rPr>
              <a:t>125M hrs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3319200" y="169164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physician hours 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documentation yearly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6226920" y="1051560"/>
            <a:ext cx="2697120" cy="1234080"/>
          </a:xfrm>
          <a:prstGeom prst="roundRect">
            <a:avLst>
              <a:gd name="adj" fmla="val 5185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6226920" y="1115640"/>
            <a:ext cx="2697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00d4aa"/>
                </a:solidFill>
                <a:effectLst/>
                <a:uFillTx/>
                <a:latin typeface="Cambria"/>
                <a:ea typeface="Cambria"/>
              </a:rPr>
              <a:t>~60K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6226920" y="1691640"/>
            <a:ext cx="2697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ICU patients' notes in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MIMIC-III alone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1"/>
          <p:cNvSpPr/>
          <p:nvPr/>
        </p:nvSpPr>
        <p:spPr>
          <a:xfrm>
            <a:off x="411480" y="2514600"/>
            <a:ext cx="411120" cy="41112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411480" y="25146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!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960120" y="246888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Physicians spend nearly twice as much time on EHR desk work as on direct patient contact [Sinsky et al. 2016]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411480" y="3044880"/>
            <a:ext cx="411120" cy="41112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411480" y="30448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📄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960120" y="299916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Biomedical literature grows faster than clinicians can manually read and synthesize it [Survey refs 1, 3]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7"/>
          <p:cNvSpPr/>
          <p:nvPr/>
        </p:nvSpPr>
        <p:spPr>
          <a:xfrm>
            <a:off x="411480" y="3575160"/>
            <a:ext cx="411120" cy="411120"/>
          </a:xfrm>
          <a:prstGeom prst="ellipse">
            <a:avLst/>
          </a:prstGeom>
          <a:solidFill>
            <a:srgbClr val="e03e5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411480" y="35751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⚠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960120" y="352944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Existing LLM summarizers hallucinate — fabricated drug dosages, dates, and diagnoses go undetected [Van Veen et al. 2023]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0"/>
          <p:cNvSpPr/>
          <p:nvPr/>
        </p:nvSpPr>
        <p:spPr>
          <a:xfrm>
            <a:off x="411480" y="4105800"/>
            <a:ext cx="411120" cy="41112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411480" y="41058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📊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2"/>
          <p:cNvSpPr/>
          <p:nvPr/>
        </p:nvSpPr>
        <p:spPr>
          <a:xfrm>
            <a:off x="960120" y="406008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Automatic metrics (ROUGE/BERTScore) used to evaluate summaries correlate weakly with physician judgment [refs 6, 9]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411480" y="1645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02  ·  LITERATURE SURVEY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457200" y="2926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20 Papers Reviewed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457200" y="9144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i="1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Spanning surveys, domain-specific models, foundation LLMs, and empirical evaluations (2005–2025)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"/>
          <p:cNvSpPr/>
          <p:nvPr/>
        </p:nvSpPr>
        <p:spPr>
          <a:xfrm>
            <a:off x="365760" y="1234440"/>
            <a:ext cx="2605680" cy="11426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4"/>
          <p:cNvSpPr/>
          <p:nvPr/>
        </p:nvSpPr>
        <p:spPr>
          <a:xfrm>
            <a:off x="365760" y="1234440"/>
            <a:ext cx="2605680" cy="182520"/>
          </a:xfrm>
          <a:prstGeom prst="roundRect">
            <a:avLst>
              <a:gd name="adj" fmla="val 35000"/>
            </a:avLst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475560" y="1463040"/>
            <a:ext cx="239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Surveys &amp;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Reviews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475560" y="18561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56db"/>
                </a:solidFill>
                <a:effectLst/>
                <a:uFillTx/>
                <a:latin typeface="Cambria"/>
                <a:ea typeface="Cambria"/>
              </a:rPr>
              <a:t>6 papers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475560" y="2094120"/>
            <a:ext cx="2395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refs 1–5, 7–8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8"/>
          <p:cNvSpPr/>
          <p:nvPr/>
        </p:nvSpPr>
        <p:spPr>
          <a:xfrm>
            <a:off x="3200400" y="1234440"/>
            <a:ext cx="2605680" cy="11426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9"/>
          <p:cNvSpPr/>
          <p:nvPr/>
        </p:nvSpPr>
        <p:spPr>
          <a:xfrm>
            <a:off x="3200400" y="1234440"/>
            <a:ext cx="2605680" cy="182520"/>
          </a:xfrm>
          <a:prstGeom prst="roundRect">
            <a:avLst>
              <a:gd name="adj" fmla="val 35000"/>
            </a:avLst>
          </a:prstGeom>
          <a:solidFill>
            <a:srgbClr val="02809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3310200" y="1463040"/>
            <a:ext cx="239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Domain-Adapted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Models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3310200" y="18561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28090"/>
                </a:solidFill>
                <a:effectLst/>
                <a:uFillTx/>
                <a:latin typeface="Cambria"/>
                <a:ea typeface="Cambria"/>
              </a:rPr>
              <a:t>5 papers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3310200" y="2094120"/>
            <a:ext cx="2395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BioBERT, PubMedBERT,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BioBART, ClinicalT5,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GatorTron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3"/>
          <p:cNvSpPr/>
          <p:nvPr/>
        </p:nvSpPr>
        <p:spPr>
          <a:xfrm>
            <a:off x="6035040" y="1234440"/>
            <a:ext cx="2605680" cy="11426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4"/>
          <p:cNvSpPr/>
          <p:nvPr/>
        </p:nvSpPr>
        <p:spPr>
          <a:xfrm>
            <a:off x="6035040" y="1234440"/>
            <a:ext cx="2605680" cy="182520"/>
          </a:xfrm>
          <a:prstGeom prst="roundRect">
            <a:avLst>
              <a:gd name="adj" fmla="val 35000"/>
            </a:avLst>
          </a:prstGeom>
          <a:solidFill>
            <a:srgbClr val="6d2e4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6144840" y="1463040"/>
            <a:ext cx="239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Foundation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Models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6144840" y="18561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6d2e46"/>
                </a:solidFill>
                <a:effectLst/>
                <a:uFillTx/>
                <a:latin typeface="Cambria"/>
                <a:ea typeface="Cambria"/>
              </a:rPr>
              <a:t>3 papers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6144840" y="2094120"/>
            <a:ext cx="2395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BART, T5, PEGASUS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8"/>
          <p:cNvSpPr/>
          <p:nvPr/>
        </p:nvSpPr>
        <p:spPr>
          <a:xfrm>
            <a:off x="914400" y="2578680"/>
            <a:ext cx="2605680" cy="11426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9"/>
          <p:cNvSpPr/>
          <p:nvPr/>
        </p:nvSpPr>
        <p:spPr>
          <a:xfrm>
            <a:off x="914400" y="2578680"/>
            <a:ext cx="2605680" cy="182520"/>
          </a:xfrm>
          <a:prstGeom prst="roundRect">
            <a:avLst>
              <a:gd name="adj" fmla="val 35000"/>
            </a:avLst>
          </a:prstGeom>
          <a:solidFill>
            <a:srgbClr val="f5a623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1024200" y="2807280"/>
            <a:ext cx="239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Large LLMs &amp;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Evaluation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1024200" y="320040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5a623"/>
                </a:solidFill>
                <a:effectLst/>
                <a:uFillTx/>
                <a:latin typeface="Cambria"/>
                <a:ea typeface="Cambria"/>
              </a:rPr>
              <a:t>3 papers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2"/>
          <p:cNvSpPr/>
          <p:nvPr/>
        </p:nvSpPr>
        <p:spPr>
          <a:xfrm>
            <a:off x="1024200" y="3438000"/>
            <a:ext cx="2395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Med-PaLM, Med-PaLM 2,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LLM Eval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3"/>
          <p:cNvSpPr/>
          <p:nvPr/>
        </p:nvSpPr>
        <p:spPr>
          <a:xfrm>
            <a:off x="3749040" y="2578680"/>
            <a:ext cx="2605680" cy="11426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4"/>
          <p:cNvSpPr/>
          <p:nvPr/>
        </p:nvSpPr>
        <p:spPr>
          <a:xfrm>
            <a:off x="3749040" y="2578680"/>
            <a:ext cx="2605680" cy="182520"/>
          </a:xfrm>
          <a:prstGeom prst="roundRect">
            <a:avLst>
              <a:gd name="adj" fmla="val 35000"/>
            </a:avLst>
          </a:prstGeom>
          <a:solidFill>
            <a:srgbClr val="e03e5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5"/>
          <p:cNvSpPr/>
          <p:nvPr/>
        </p:nvSpPr>
        <p:spPr>
          <a:xfrm>
            <a:off x="3858840" y="2807280"/>
            <a:ext cx="2395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Clinical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Application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3858840" y="320040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e03e52"/>
                </a:solidFill>
                <a:effectLst/>
                <a:uFillTx/>
                <a:latin typeface="Cambria"/>
                <a:ea typeface="Cambria"/>
              </a:rPr>
              <a:t>3 papers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7"/>
          <p:cNvSpPr/>
          <p:nvPr/>
        </p:nvSpPr>
        <p:spPr>
          <a:xfrm>
            <a:off x="3858840" y="3438000"/>
            <a:ext cx="2395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Clinical text summ,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scoring, adaption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8"/>
          <p:cNvSpPr/>
          <p:nvPr/>
        </p:nvSpPr>
        <p:spPr>
          <a:xfrm>
            <a:off x="365760" y="443484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411480" y="1645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02  ·  LITERATURE SURVEY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457200" y="2926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Selected Paper Comparison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365760" y="1078920"/>
            <a:ext cx="1737000" cy="319680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411480" y="107892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Paper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2103120" y="1078920"/>
            <a:ext cx="1462680" cy="319680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2148840" y="107892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Dataset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"/>
          <p:cNvSpPr/>
          <p:nvPr/>
        </p:nvSpPr>
        <p:spPr>
          <a:xfrm>
            <a:off x="3566160" y="1078920"/>
            <a:ext cx="1691280" cy="319680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3611880" y="1078920"/>
            <a:ext cx="1599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Method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5257800" y="1078920"/>
            <a:ext cx="1691280" cy="319680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5303520" y="1078920"/>
            <a:ext cx="1599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 Result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0"/>
          <p:cNvSpPr/>
          <p:nvPr/>
        </p:nvSpPr>
        <p:spPr>
          <a:xfrm>
            <a:off x="6949440" y="1078920"/>
            <a:ext cx="1828440" cy="319680"/>
          </a:xfrm>
          <a:prstGeom prst="rect">
            <a:avLst/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6995160" y="107892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 Limitation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365760" y="1398960"/>
            <a:ext cx="1737000" cy="529920"/>
          </a:xfrm>
          <a:prstGeom prst="rect">
            <a:avLst/>
          </a:prstGeom>
          <a:solidFill>
            <a:srgbClr val="f0f4fa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411480" y="1398960"/>
            <a:ext cx="1645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[6]  Van Veen et al. 2023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4"/>
          <p:cNvSpPr/>
          <p:nvPr/>
        </p:nvSpPr>
        <p:spPr>
          <a:xfrm>
            <a:off x="2103120" y="1398960"/>
            <a:ext cx="1462680" cy="529920"/>
          </a:xfrm>
          <a:prstGeom prst="rect">
            <a:avLst/>
          </a:prstGeom>
          <a:solidFill>
            <a:srgbClr val="f0f4fa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2148840" y="1398960"/>
            <a:ext cx="1371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6 datasets (clinical)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3566160" y="1398960"/>
            <a:ext cx="1691280" cy="529920"/>
          </a:xfrm>
          <a:prstGeom prst="rect">
            <a:avLst/>
          </a:prstGeom>
          <a:solidFill>
            <a:srgbClr val="f0f4fa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3611880" y="1398960"/>
            <a:ext cx="1599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8 adapted LLMs vs. 10 physicians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8"/>
          <p:cNvSpPr/>
          <p:nvPr/>
        </p:nvSpPr>
        <p:spPr>
          <a:xfrm>
            <a:off x="5257800" y="1398960"/>
            <a:ext cx="1691280" cy="529920"/>
          </a:xfrm>
          <a:prstGeom prst="rect">
            <a:avLst/>
          </a:prstGeom>
          <a:solidFill>
            <a:srgbClr val="f0f4fa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9"/>
          <p:cNvSpPr/>
          <p:nvPr/>
        </p:nvSpPr>
        <p:spPr>
          <a:xfrm>
            <a:off x="5303520" y="1398960"/>
            <a:ext cx="1599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LLM ≥ human in majority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0"/>
          <p:cNvSpPr/>
          <p:nvPr/>
        </p:nvSpPr>
        <p:spPr>
          <a:xfrm>
            <a:off x="6949440" y="1398960"/>
            <a:ext cx="1828440" cy="529920"/>
          </a:xfrm>
          <a:prstGeom prst="rect">
            <a:avLst/>
          </a:prstGeom>
          <a:solidFill>
            <a:srgbClr val="f0f4fa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1"/>
          <p:cNvSpPr/>
          <p:nvPr/>
        </p:nvSpPr>
        <p:spPr>
          <a:xfrm>
            <a:off x="6995160" y="1398960"/>
            <a:ext cx="1737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e03e52"/>
                </a:solidFill>
                <a:effectLst/>
                <a:uFillTx/>
                <a:latin typeface="Calibri"/>
                <a:ea typeface="Calibri"/>
              </a:rPr>
              <a:t>Hallucination risk; weak metrics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2"/>
          <p:cNvSpPr/>
          <p:nvPr/>
        </p:nvSpPr>
        <p:spPr>
          <a:xfrm>
            <a:off x="365760" y="1947600"/>
            <a:ext cx="1737000" cy="529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411480" y="1947600"/>
            <a:ext cx="1645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[11] ClinicalT5  2022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4"/>
          <p:cNvSpPr/>
          <p:nvPr/>
        </p:nvSpPr>
        <p:spPr>
          <a:xfrm>
            <a:off x="2103120" y="1947600"/>
            <a:ext cx="1462680" cy="529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5"/>
          <p:cNvSpPr/>
          <p:nvPr/>
        </p:nvSpPr>
        <p:spPr>
          <a:xfrm>
            <a:off x="2148840" y="1947600"/>
            <a:ext cx="1371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MIMIC-III notes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6"/>
          <p:cNvSpPr/>
          <p:nvPr/>
        </p:nvSpPr>
        <p:spPr>
          <a:xfrm>
            <a:off x="3566160" y="1947600"/>
            <a:ext cx="1691280" cy="529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7"/>
          <p:cNvSpPr/>
          <p:nvPr/>
        </p:nvSpPr>
        <p:spPr>
          <a:xfrm>
            <a:off x="3611880" y="1947600"/>
            <a:ext cx="1599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T5 continued-pretrained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8"/>
          <p:cNvSpPr/>
          <p:nvPr/>
        </p:nvSpPr>
        <p:spPr>
          <a:xfrm>
            <a:off x="5257800" y="1947600"/>
            <a:ext cx="1691280" cy="529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9"/>
          <p:cNvSpPr/>
          <p:nvPr/>
        </p:nvSpPr>
        <p:spPr>
          <a:xfrm>
            <a:off x="5303520" y="1947600"/>
            <a:ext cx="1599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Improved ROUGE/summ score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0"/>
          <p:cNvSpPr/>
          <p:nvPr/>
        </p:nvSpPr>
        <p:spPr>
          <a:xfrm>
            <a:off x="6949440" y="1947600"/>
            <a:ext cx="1828440" cy="529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1"/>
          <p:cNvSpPr/>
          <p:nvPr/>
        </p:nvSpPr>
        <p:spPr>
          <a:xfrm>
            <a:off x="6995160" y="1947600"/>
            <a:ext cx="1737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e03e52"/>
                </a:solidFill>
                <a:effectLst/>
                <a:uFillTx/>
                <a:latin typeface="Calibri"/>
                <a:ea typeface="Calibri"/>
              </a:rPr>
              <a:t>Single-hospital ICU data only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2"/>
          <p:cNvSpPr/>
          <p:nvPr/>
        </p:nvSpPr>
        <p:spPr>
          <a:xfrm>
            <a:off x="365760" y="2496240"/>
            <a:ext cx="1737000" cy="529920"/>
          </a:xfrm>
          <a:prstGeom prst="rect">
            <a:avLst/>
          </a:prstGeom>
          <a:solidFill>
            <a:srgbClr val="f0f4fa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3"/>
          <p:cNvSpPr/>
          <p:nvPr/>
        </p:nvSpPr>
        <p:spPr>
          <a:xfrm>
            <a:off x="411480" y="2496240"/>
            <a:ext cx="1645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[13] BioBERT  2019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4"/>
          <p:cNvSpPr/>
          <p:nvPr/>
        </p:nvSpPr>
        <p:spPr>
          <a:xfrm>
            <a:off x="2103120" y="2496240"/>
            <a:ext cx="1462680" cy="529920"/>
          </a:xfrm>
          <a:prstGeom prst="rect">
            <a:avLst/>
          </a:prstGeom>
          <a:solidFill>
            <a:srgbClr val="f0f4fa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5"/>
          <p:cNvSpPr/>
          <p:nvPr/>
        </p:nvSpPr>
        <p:spPr>
          <a:xfrm>
            <a:off x="2148840" y="2496240"/>
            <a:ext cx="1371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PubMed / PMC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6"/>
          <p:cNvSpPr/>
          <p:nvPr/>
        </p:nvSpPr>
        <p:spPr>
          <a:xfrm>
            <a:off x="3566160" y="2496240"/>
            <a:ext cx="1691280" cy="529920"/>
          </a:xfrm>
          <a:prstGeom prst="rect">
            <a:avLst/>
          </a:prstGeom>
          <a:solidFill>
            <a:srgbClr val="f0f4fa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7"/>
          <p:cNvSpPr/>
          <p:nvPr/>
        </p:nvSpPr>
        <p:spPr>
          <a:xfrm>
            <a:off x="3611880" y="2496240"/>
            <a:ext cx="1599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BERT domain-pretrained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8"/>
          <p:cNvSpPr/>
          <p:nvPr/>
        </p:nvSpPr>
        <p:spPr>
          <a:xfrm>
            <a:off x="5257800" y="2496240"/>
            <a:ext cx="1691280" cy="529920"/>
          </a:xfrm>
          <a:prstGeom prst="rect">
            <a:avLst/>
          </a:prstGeom>
          <a:solidFill>
            <a:srgbClr val="f0f4fa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9"/>
          <p:cNvSpPr/>
          <p:nvPr/>
        </p:nvSpPr>
        <p:spPr>
          <a:xfrm>
            <a:off x="5303520" y="2496240"/>
            <a:ext cx="1599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NER/RE F1 +2–4 pts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40"/>
          <p:cNvSpPr/>
          <p:nvPr/>
        </p:nvSpPr>
        <p:spPr>
          <a:xfrm>
            <a:off x="6949440" y="2496240"/>
            <a:ext cx="1828440" cy="529920"/>
          </a:xfrm>
          <a:prstGeom prst="rect">
            <a:avLst/>
          </a:prstGeom>
          <a:solidFill>
            <a:srgbClr val="f0f4fa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1"/>
          <p:cNvSpPr/>
          <p:nvPr/>
        </p:nvSpPr>
        <p:spPr>
          <a:xfrm>
            <a:off x="6995160" y="2496240"/>
            <a:ext cx="1737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e03e52"/>
                </a:solidFill>
                <a:effectLst/>
                <a:uFillTx/>
                <a:latin typeface="Calibri"/>
                <a:ea typeface="Calibri"/>
              </a:rPr>
              <a:t>Encoder-only; cannot generate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42"/>
          <p:cNvSpPr/>
          <p:nvPr/>
        </p:nvSpPr>
        <p:spPr>
          <a:xfrm>
            <a:off x="365760" y="3044880"/>
            <a:ext cx="1737000" cy="529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3"/>
          <p:cNvSpPr/>
          <p:nvPr/>
        </p:nvSpPr>
        <p:spPr>
          <a:xfrm>
            <a:off x="411480" y="3044880"/>
            <a:ext cx="1645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[15] GatorTron  2022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4"/>
          <p:cNvSpPr/>
          <p:nvPr/>
        </p:nvSpPr>
        <p:spPr>
          <a:xfrm>
            <a:off x="2103120" y="3044880"/>
            <a:ext cx="1462680" cy="529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5"/>
          <p:cNvSpPr/>
          <p:nvPr/>
        </p:nvSpPr>
        <p:spPr>
          <a:xfrm>
            <a:off x="2148840" y="3044880"/>
            <a:ext cx="1371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&gt;90B EHR words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46"/>
          <p:cNvSpPr/>
          <p:nvPr/>
        </p:nvSpPr>
        <p:spPr>
          <a:xfrm>
            <a:off x="3566160" y="3044880"/>
            <a:ext cx="1691280" cy="529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7"/>
          <p:cNvSpPr/>
          <p:nvPr/>
        </p:nvSpPr>
        <p:spPr>
          <a:xfrm>
            <a:off x="3611880" y="3044880"/>
            <a:ext cx="1599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Large clinical transformer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8"/>
          <p:cNvSpPr/>
          <p:nvPr/>
        </p:nvSpPr>
        <p:spPr>
          <a:xfrm>
            <a:off x="5257800" y="3044880"/>
            <a:ext cx="1691280" cy="529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9"/>
          <p:cNvSpPr/>
          <p:nvPr/>
        </p:nvSpPr>
        <p:spPr>
          <a:xfrm>
            <a:off x="5303520" y="3044880"/>
            <a:ext cx="1599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SOTA clinical NLU tasks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50"/>
          <p:cNvSpPr/>
          <p:nvPr/>
        </p:nvSpPr>
        <p:spPr>
          <a:xfrm>
            <a:off x="6949440" y="3044880"/>
            <a:ext cx="1828440" cy="529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1"/>
          <p:cNvSpPr/>
          <p:nvPr/>
        </p:nvSpPr>
        <p:spPr>
          <a:xfrm>
            <a:off x="6995160" y="3044880"/>
            <a:ext cx="1737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e03e52"/>
                </a:solidFill>
                <a:effectLst/>
                <a:uFillTx/>
                <a:latin typeface="Calibri"/>
                <a:ea typeface="Calibri"/>
              </a:rPr>
              <a:t>Proprietary; not reproducible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52"/>
          <p:cNvSpPr/>
          <p:nvPr/>
        </p:nvSpPr>
        <p:spPr>
          <a:xfrm>
            <a:off x="365760" y="3593520"/>
            <a:ext cx="1737000" cy="529920"/>
          </a:xfrm>
          <a:prstGeom prst="rect">
            <a:avLst/>
          </a:prstGeom>
          <a:solidFill>
            <a:srgbClr val="f0f4fa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53"/>
          <p:cNvSpPr/>
          <p:nvPr/>
        </p:nvSpPr>
        <p:spPr>
          <a:xfrm>
            <a:off x="411480" y="3593520"/>
            <a:ext cx="16455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[18] PEGASUS  2020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54"/>
          <p:cNvSpPr/>
          <p:nvPr/>
        </p:nvSpPr>
        <p:spPr>
          <a:xfrm>
            <a:off x="2103120" y="3593520"/>
            <a:ext cx="1462680" cy="529920"/>
          </a:xfrm>
          <a:prstGeom prst="rect">
            <a:avLst/>
          </a:prstGeom>
          <a:solidFill>
            <a:srgbClr val="f0f4fa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5"/>
          <p:cNvSpPr/>
          <p:nvPr/>
        </p:nvSpPr>
        <p:spPr>
          <a:xfrm>
            <a:off x="2148840" y="3593520"/>
            <a:ext cx="1371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XSum / CNN-DM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56"/>
          <p:cNvSpPr/>
          <p:nvPr/>
        </p:nvSpPr>
        <p:spPr>
          <a:xfrm>
            <a:off x="3566160" y="3593520"/>
            <a:ext cx="1691280" cy="529920"/>
          </a:xfrm>
          <a:prstGeom prst="rect">
            <a:avLst/>
          </a:prstGeom>
          <a:solidFill>
            <a:srgbClr val="f0f4fa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7"/>
          <p:cNvSpPr/>
          <p:nvPr/>
        </p:nvSpPr>
        <p:spPr>
          <a:xfrm>
            <a:off x="3611880" y="3593520"/>
            <a:ext cx="1599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Gap-sentence pretraining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58"/>
          <p:cNvSpPr/>
          <p:nvPr/>
        </p:nvSpPr>
        <p:spPr>
          <a:xfrm>
            <a:off x="5257800" y="3593520"/>
            <a:ext cx="1691280" cy="529920"/>
          </a:xfrm>
          <a:prstGeom prst="rect">
            <a:avLst/>
          </a:prstGeom>
          <a:solidFill>
            <a:srgbClr val="f0f4fa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9"/>
          <p:cNvSpPr/>
          <p:nvPr/>
        </p:nvSpPr>
        <p:spPr>
          <a:xfrm>
            <a:off x="5303520" y="3593520"/>
            <a:ext cx="1599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SOTA ROUGE-L (general)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60"/>
          <p:cNvSpPr/>
          <p:nvPr/>
        </p:nvSpPr>
        <p:spPr>
          <a:xfrm>
            <a:off x="6949440" y="3593520"/>
            <a:ext cx="1828440" cy="529920"/>
          </a:xfrm>
          <a:prstGeom prst="rect">
            <a:avLst/>
          </a:prstGeom>
          <a:solidFill>
            <a:srgbClr val="f0f4fa"/>
          </a:solidFill>
          <a:ln w="6350">
            <a:solidFill>
              <a:srgbClr val="dde6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1"/>
          <p:cNvSpPr/>
          <p:nvPr/>
        </p:nvSpPr>
        <p:spPr>
          <a:xfrm>
            <a:off x="6995160" y="3593520"/>
            <a:ext cx="1737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e03e52"/>
                </a:solidFill>
                <a:effectLst/>
                <a:uFillTx/>
                <a:latin typeface="Calibri"/>
                <a:ea typeface="Calibri"/>
              </a:rPr>
              <a:t>General-domain; no clinical adapt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62"/>
          <p:cNvSpPr/>
          <p:nvPr/>
        </p:nvSpPr>
        <p:spPr>
          <a:xfrm>
            <a:off x="365760" y="446220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Full 20-paper comparison table with datasets, methods, metrics, and limitations is in the DA1 report document.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411480" y="1645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03  ·  RESEARCH GAPS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457200" y="3200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Critical Gaps in the Literature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457200" y="9144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What existing work has NOT solved — and what VeriSumm is designed to address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320040" y="1828800"/>
            <a:ext cx="2605680" cy="1234080"/>
          </a:xfrm>
          <a:prstGeom prst="roundRect">
            <a:avLst>
              <a:gd name="adj" fmla="val 5185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411480" y="1938600"/>
            <a:ext cx="365400" cy="3654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411480" y="19386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868680" y="192024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Evaluation Methodology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411480" y="2359080"/>
            <a:ext cx="2422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ROUGE/BERTScore correlate weakly with physician judgment; no standardized human-eval protocol [6, 9]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8"/>
          <p:cNvSpPr/>
          <p:nvPr/>
        </p:nvSpPr>
        <p:spPr>
          <a:xfrm>
            <a:off x="3063240" y="2743200"/>
            <a:ext cx="2605680" cy="1234080"/>
          </a:xfrm>
          <a:prstGeom prst="roundRect">
            <a:avLst>
              <a:gd name="adj" fmla="val 5185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9"/>
          <p:cNvSpPr/>
          <p:nvPr/>
        </p:nvSpPr>
        <p:spPr>
          <a:xfrm>
            <a:off x="3154680" y="2853000"/>
            <a:ext cx="365400" cy="365400"/>
          </a:xfrm>
          <a:prstGeom prst="ellipse">
            <a:avLst/>
          </a:prstGeom>
          <a:solidFill>
            <a:srgbClr val="e03e5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3154680" y="28530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3611880" y="283464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Factuality &amp; Hallucination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3154680" y="3273480"/>
            <a:ext cx="2422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Fabricated claims persist even in top-rated adapted LLMs; no in-line safety gate [6, 18–20]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3"/>
          <p:cNvSpPr/>
          <p:nvPr/>
        </p:nvSpPr>
        <p:spPr>
          <a:xfrm>
            <a:off x="5943600" y="1828800"/>
            <a:ext cx="2605680" cy="1234080"/>
          </a:xfrm>
          <a:prstGeom prst="roundRect">
            <a:avLst>
              <a:gd name="adj" fmla="val 5185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4"/>
          <p:cNvSpPr/>
          <p:nvPr/>
        </p:nvSpPr>
        <p:spPr>
          <a:xfrm>
            <a:off x="6035040" y="1938600"/>
            <a:ext cx="365400" cy="3654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6035040" y="19386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6"/>
          <p:cNvSpPr/>
          <p:nvPr/>
        </p:nvSpPr>
        <p:spPr>
          <a:xfrm>
            <a:off x="6492240" y="192024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Privacy &amp; Reproducibility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7"/>
          <p:cNvSpPr/>
          <p:nvPr/>
        </p:nvSpPr>
        <p:spPr>
          <a:xfrm>
            <a:off x="6035040" y="2359080"/>
            <a:ext cx="2422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Top clinical LMs use proprietary, single-institution data; not publicly released or auditable [15, 11]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1965960" y="292608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2"/>
          <p:cNvSpPr/>
          <p:nvPr/>
        </p:nvSpPr>
        <p:spPr>
          <a:xfrm>
            <a:off x="1508760" y="3364920"/>
            <a:ext cx="2422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/>
          <p:nvPr/>
        </p:nvSpPr>
        <p:spPr>
          <a:xfrm>
            <a:off x="411480" y="1645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03  ·  RESEARCH GAPS  —  DEEPDIVE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457200" y="2926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Gap G2: Hallucination Is the #1 Safety Risk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457200" y="9601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Van Veen et al. (2023) [ref 6] — the most rigorous empirical study in our survey — ran 8 adapted LLMs against 10 physicians across 4 clinical summarization tasks. Key finding: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"/>
          <p:cNvSpPr/>
          <p:nvPr/>
        </p:nvSpPr>
        <p:spPr>
          <a:xfrm>
            <a:off x="411480" y="1508760"/>
            <a:ext cx="8320680" cy="59400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4"/>
          <p:cNvSpPr/>
          <p:nvPr/>
        </p:nvSpPr>
        <p:spPr>
          <a:xfrm>
            <a:off x="411480" y="1508760"/>
            <a:ext cx="164160" cy="594000"/>
          </a:xfrm>
          <a:prstGeom prst="roundRect">
            <a:avLst>
              <a:gd name="adj" fmla="val 22222"/>
            </a:avLst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685800" y="15728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LLM summaries rated ≥ physician summaries in the majority of cases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6"/>
          <p:cNvSpPr/>
          <p:nvPr/>
        </p:nvSpPr>
        <p:spPr>
          <a:xfrm>
            <a:off x="411480" y="2203560"/>
            <a:ext cx="8320680" cy="59400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7"/>
          <p:cNvSpPr/>
          <p:nvPr/>
        </p:nvSpPr>
        <p:spPr>
          <a:xfrm>
            <a:off x="411480" y="2203560"/>
            <a:ext cx="164160" cy="594000"/>
          </a:xfrm>
          <a:prstGeom prst="roundRect">
            <a:avLst>
              <a:gd name="adj" fmla="val 22222"/>
            </a:avLst>
          </a:prstGeom>
          <a:solidFill>
            <a:srgbClr val="e03e5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685800" y="22676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Fabricated / hallucinated content documented even in winning models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9"/>
          <p:cNvSpPr/>
          <p:nvPr/>
        </p:nvSpPr>
        <p:spPr>
          <a:xfrm>
            <a:off x="411480" y="2898720"/>
            <a:ext cx="8320680" cy="59400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0"/>
          <p:cNvSpPr/>
          <p:nvPr/>
        </p:nvSpPr>
        <p:spPr>
          <a:xfrm>
            <a:off x="411480" y="2898720"/>
            <a:ext cx="164160" cy="594000"/>
          </a:xfrm>
          <a:prstGeom prst="roundRect">
            <a:avLst>
              <a:gd name="adj" fmla="val 22222"/>
            </a:avLst>
          </a:prstGeom>
          <a:solidFill>
            <a:srgbClr val="f5a623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1"/>
          <p:cNvSpPr/>
          <p:nvPr/>
        </p:nvSpPr>
        <p:spPr>
          <a:xfrm>
            <a:off x="685800" y="296280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Automatic metrics (ROUGE / BERTScore) did NOT predict physician preference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2"/>
          <p:cNvSpPr/>
          <p:nvPr/>
        </p:nvSpPr>
        <p:spPr>
          <a:xfrm>
            <a:off x="411480" y="3593520"/>
            <a:ext cx="8320680" cy="59400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3"/>
          <p:cNvSpPr/>
          <p:nvPr/>
        </p:nvSpPr>
        <p:spPr>
          <a:xfrm>
            <a:off x="411480" y="3593520"/>
            <a:ext cx="164160" cy="594000"/>
          </a:xfrm>
          <a:prstGeom prst="roundRect">
            <a:avLst>
              <a:gd name="adj" fmla="val 22222"/>
            </a:avLst>
          </a:prstGeom>
          <a:solidFill>
            <a:srgbClr val="e03e5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4"/>
          <p:cNvSpPr/>
          <p:nvPr/>
        </p:nvSpPr>
        <p:spPr>
          <a:xfrm>
            <a:off x="685800" y="365760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No existing system blocks a summary from being shown until it is verified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5"/>
          <p:cNvSpPr/>
          <p:nvPr/>
        </p:nvSpPr>
        <p:spPr>
          <a:xfrm>
            <a:off x="411480" y="4316040"/>
            <a:ext cx="832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1a56db"/>
                </a:solidFill>
                <a:effectLst/>
                <a:uFillTx/>
                <a:latin typeface="Calibri"/>
                <a:ea typeface="Calibri"/>
              </a:rPr>
              <a:t>→  VeriSumm directly addresses this by making factual-consistency verification a BLOCKING stage — a summary is not shown to the clinician until every sentence has been verified against the source.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/>
          <p:nvPr/>
        </p:nvSpPr>
        <p:spPr>
          <a:xfrm>
            <a:off x="411480" y="1645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04  ·  PROBLEM STATEMENT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457200" y="3200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Formal Problem Statement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"/>
          <p:cNvSpPr/>
          <p:nvPr/>
        </p:nvSpPr>
        <p:spPr>
          <a:xfrm>
            <a:off x="411480" y="1005840"/>
            <a:ext cx="8320680" cy="804240"/>
          </a:xfrm>
          <a:prstGeom prst="roundRect">
            <a:avLst>
              <a:gd name="adj" fmla="val 7955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3"/>
          <p:cNvSpPr/>
          <p:nvPr/>
        </p:nvSpPr>
        <p:spPr>
          <a:xfrm>
            <a:off x="411480" y="1005840"/>
            <a:ext cx="1234080" cy="804240"/>
          </a:xfrm>
          <a:prstGeom prst="roundRect">
            <a:avLst>
              <a:gd name="adj" fmla="val 7955"/>
            </a:avLst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411480" y="1005840"/>
            <a:ext cx="12340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INPUT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5"/>
          <p:cNvSpPr/>
          <p:nvPr/>
        </p:nvSpPr>
        <p:spPr>
          <a:xfrm>
            <a:off x="1737360" y="109728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Long, heterogeneous medical text — EHR notes, discharge summaries, radiology reports, dialogue transcripts, biomedical literature — up to 20,000+ tokens, often exceeding a single model's context window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6"/>
          <p:cNvSpPr/>
          <p:nvPr/>
        </p:nvSpPr>
        <p:spPr>
          <a:xfrm>
            <a:off x="411480" y="1911240"/>
            <a:ext cx="8320680" cy="804240"/>
          </a:xfrm>
          <a:prstGeom prst="roundRect">
            <a:avLst>
              <a:gd name="adj" fmla="val 7955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7"/>
          <p:cNvSpPr/>
          <p:nvPr/>
        </p:nvSpPr>
        <p:spPr>
          <a:xfrm>
            <a:off x="411480" y="1911240"/>
            <a:ext cx="1234080" cy="804240"/>
          </a:xfrm>
          <a:prstGeom prst="roundRect">
            <a:avLst>
              <a:gd name="adj" fmla="val 7955"/>
            </a:avLst>
          </a:prstGeom>
          <a:solidFill>
            <a:srgbClr val="00d4aa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8"/>
          <p:cNvSpPr/>
          <p:nvPr/>
        </p:nvSpPr>
        <p:spPr>
          <a:xfrm>
            <a:off x="411480" y="1911240"/>
            <a:ext cx="12340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OUTPUT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9"/>
          <p:cNvSpPr/>
          <p:nvPr/>
        </p:nvSpPr>
        <p:spPr>
          <a:xfrm>
            <a:off x="1737360" y="200268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Concise abstractive summary + claim-level factual-consistency verdict &amp; confidence score for every sentence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0"/>
          <p:cNvSpPr/>
          <p:nvPr/>
        </p:nvSpPr>
        <p:spPr>
          <a:xfrm>
            <a:off x="411480" y="2816280"/>
            <a:ext cx="8320680" cy="804240"/>
          </a:xfrm>
          <a:prstGeom prst="roundRect">
            <a:avLst>
              <a:gd name="adj" fmla="val 7955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1"/>
          <p:cNvSpPr/>
          <p:nvPr/>
        </p:nvSpPr>
        <p:spPr>
          <a:xfrm>
            <a:off x="411480" y="2816280"/>
            <a:ext cx="1234080" cy="804240"/>
          </a:xfrm>
          <a:prstGeom prst="roundRect">
            <a:avLst>
              <a:gd name="adj" fmla="val 7955"/>
            </a:avLst>
          </a:prstGeom>
          <a:solidFill>
            <a:srgbClr val="f5a623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411480" y="2816280"/>
            <a:ext cx="12340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CONSTRAINTS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3"/>
          <p:cNvSpPr/>
          <p:nvPr/>
        </p:nvSpPr>
        <p:spPr>
          <a:xfrm>
            <a:off x="1737360" y="290772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Limited labeled clinical data  ·  Privacy (no external data transmission required)  ·  Heterogeneous note structures  ·  Known LLM hallucination risk in high-stakes settings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4"/>
          <p:cNvSpPr/>
          <p:nvPr/>
        </p:nvSpPr>
        <p:spPr>
          <a:xfrm>
            <a:off x="411480" y="3721680"/>
            <a:ext cx="8320680" cy="804240"/>
          </a:xfrm>
          <a:prstGeom prst="roundRect">
            <a:avLst>
              <a:gd name="adj" fmla="val 7955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5"/>
          <p:cNvSpPr/>
          <p:nvPr/>
        </p:nvSpPr>
        <p:spPr>
          <a:xfrm>
            <a:off x="411480" y="3721680"/>
            <a:ext cx="1234080" cy="804240"/>
          </a:xfrm>
          <a:prstGeom prst="roundRect">
            <a:avLst>
              <a:gd name="adj" fmla="val 7955"/>
            </a:avLst>
          </a:prstGeom>
          <a:solidFill>
            <a:srgbClr val="e03e5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6"/>
          <p:cNvSpPr/>
          <p:nvPr/>
        </p:nvSpPr>
        <p:spPr>
          <a:xfrm>
            <a:off x="411480" y="3721680"/>
            <a:ext cx="12340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SUCCESS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CRITERIA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7"/>
          <p:cNvSpPr/>
          <p:nvPr/>
        </p:nvSpPr>
        <p:spPr>
          <a:xfrm>
            <a:off x="1737360" y="381312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Claim-level flagging precision/recall ≥ 0.85  ·  Clinician-rated correctness within 5% of human-expert baseline  ·  Benchmarked vs. GPT-class LLM baseline + domain-adapted model baseline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411480" y="1645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05  ·  SYSTEM 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457200" y="2926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End-to-End Pipeline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292680" y="1005840"/>
            <a:ext cx="1078560" cy="1096920"/>
          </a:xfrm>
          <a:prstGeom prst="roundRect">
            <a:avLst>
              <a:gd name="adj" fmla="val 8475"/>
            </a:avLst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"/>
          <p:cNvSpPr/>
          <p:nvPr/>
        </p:nvSpPr>
        <p:spPr>
          <a:xfrm>
            <a:off x="292680" y="1024200"/>
            <a:ext cx="107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4"/>
          <p:cNvSpPr/>
          <p:nvPr/>
        </p:nvSpPr>
        <p:spPr>
          <a:xfrm>
            <a:off x="292680" y="1298520"/>
            <a:ext cx="107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Ingest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292680" y="1572840"/>
            <a:ext cx="1078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.txt / .pdf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.docx / paste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6"/>
          <p:cNvSpPr/>
          <p:nvPr/>
        </p:nvSpPr>
        <p:spPr>
          <a:xfrm>
            <a:off x="1371600" y="1536120"/>
            <a:ext cx="137160" cy="360"/>
          </a:xfrm>
          <a:prstGeom prst="line">
            <a:avLst/>
          </a:prstGeom>
          <a:ln w="25400">
            <a:solidFill>
              <a:srgbClr val="1a5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1389960" y="1444680"/>
            <a:ext cx="182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1a56db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8"/>
          <p:cNvSpPr/>
          <p:nvPr/>
        </p:nvSpPr>
        <p:spPr>
          <a:xfrm>
            <a:off x="1508760" y="1005840"/>
            <a:ext cx="1078560" cy="1096920"/>
          </a:xfrm>
          <a:prstGeom prst="roundRect">
            <a:avLst>
              <a:gd name="adj" fmla="val 8475"/>
            </a:avLst>
          </a:prstGeom>
          <a:solidFill>
            <a:srgbClr val="e03e5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1508760" y="1024200"/>
            <a:ext cx="107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1508760" y="1298520"/>
            <a:ext cx="107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De-ID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1508760" y="1572840"/>
            <a:ext cx="1078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PHI removal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before any model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2587680" y="1536120"/>
            <a:ext cx="137160" cy="360"/>
          </a:xfrm>
          <a:prstGeom prst="line">
            <a:avLst/>
          </a:prstGeom>
          <a:ln w="25400">
            <a:solidFill>
              <a:srgbClr val="1a5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2606040" y="1444680"/>
            <a:ext cx="182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1a56db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2724840" y="1005840"/>
            <a:ext cx="1078560" cy="1096920"/>
          </a:xfrm>
          <a:prstGeom prst="roundRect">
            <a:avLst>
              <a:gd name="adj" fmla="val 8475"/>
            </a:avLst>
          </a:prstGeom>
          <a:solidFill>
            <a:srgbClr val="f5a623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5"/>
          <p:cNvSpPr/>
          <p:nvPr/>
        </p:nvSpPr>
        <p:spPr>
          <a:xfrm>
            <a:off x="2724840" y="1024200"/>
            <a:ext cx="107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6"/>
          <p:cNvSpPr/>
          <p:nvPr/>
        </p:nvSpPr>
        <p:spPr>
          <a:xfrm>
            <a:off x="2724840" y="1298520"/>
            <a:ext cx="107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Chunk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7"/>
          <p:cNvSpPr/>
          <p:nvPr/>
        </p:nvSpPr>
        <p:spPr>
          <a:xfrm>
            <a:off x="2724840" y="1572840"/>
            <a:ext cx="1078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Map-reduce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hierarchical split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8"/>
          <p:cNvSpPr/>
          <p:nvPr/>
        </p:nvSpPr>
        <p:spPr>
          <a:xfrm>
            <a:off x="3803760" y="1536120"/>
            <a:ext cx="137160" cy="360"/>
          </a:xfrm>
          <a:prstGeom prst="line">
            <a:avLst/>
          </a:prstGeom>
          <a:ln w="25400">
            <a:solidFill>
              <a:srgbClr val="1a5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9"/>
          <p:cNvSpPr/>
          <p:nvPr/>
        </p:nvSpPr>
        <p:spPr>
          <a:xfrm>
            <a:off x="3822120" y="1444680"/>
            <a:ext cx="182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1a56db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0"/>
          <p:cNvSpPr/>
          <p:nvPr/>
        </p:nvSpPr>
        <p:spPr>
          <a:xfrm>
            <a:off x="3940920" y="1005840"/>
            <a:ext cx="1078560" cy="1096920"/>
          </a:xfrm>
          <a:prstGeom prst="roundRect">
            <a:avLst>
              <a:gd name="adj" fmla="val 8475"/>
            </a:avLst>
          </a:prstGeom>
          <a:solidFill>
            <a:srgbClr val="6d2e4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1"/>
          <p:cNvSpPr/>
          <p:nvPr/>
        </p:nvSpPr>
        <p:spPr>
          <a:xfrm>
            <a:off x="3940920" y="1024200"/>
            <a:ext cx="107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2"/>
          <p:cNvSpPr/>
          <p:nvPr/>
        </p:nvSpPr>
        <p:spPr>
          <a:xfrm>
            <a:off x="3940920" y="1298520"/>
            <a:ext cx="107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Summarize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3"/>
          <p:cNvSpPr/>
          <p:nvPr/>
        </p:nvSpPr>
        <p:spPr>
          <a:xfrm>
            <a:off x="3940920" y="1572840"/>
            <a:ext cx="1078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Pluggable backbone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local or hosted LLM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4"/>
          <p:cNvSpPr/>
          <p:nvPr/>
        </p:nvSpPr>
        <p:spPr>
          <a:xfrm>
            <a:off x="5019840" y="1536120"/>
            <a:ext cx="137160" cy="360"/>
          </a:xfrm>
          <a:prstGeom prst="line">
            <a:avLst/>
          </a:prstGeom>
          <a:ln w="25400">
            <a:solidFill>
              <a:srgbClr val="1a5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5"/>
          <p:cNvSpPr/>
          <p:nvPr/>
        </p:nvSpPr>
        <p:spPr>
          <a:xfrm>
            <a:off x="5038200" y="1444680"/>
            <a:ext cx="182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1a56db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6"/>
          <p:cNvSpPr/>
          <p:nvPr/>
        </p:nvSpPr>
        <p:spPr>
          <a:xfrm>
            <a:off x="5157360" y="1005840"/>
            <a:ext cx="1078560" cy="1096920"/>
          </a:xfrm>
          <a:prstGeom prst="roundRect">
            <a:avLst>
              <a:gd name="adj" fmla="val 8475"/>
            </a:avLst>
          </a:prstGeom>
          <a:solidFill>
            <a:srgbClr val="e03e5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7"/>
          <p:cNvSpPr/>
          <p:nvPr/>
        </p:nvSpPr>
        <p:spPr>
          <a:xfrm>
            <a:off x="5157360" y="1024200"/>
            <a:ext cx="107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8"/>
          <p:cNvSpPr/>
          <p:nvPr/>
        </p:nvSpPr>
        <p:spPr>
          <a:xfrm>
            <a:off x="5157360" y="1298520"/>
            <a:ext cx="107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Verify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9"/>
          <p:cNvSpPr/>
          <p:nvPr/>
        </p:nvSpPr>
        <p:spPr>
          <a:xfrm>
            <a:off x="5157360" y="1572840"/>
            <a:ext cx="1078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NLI + entity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grounding check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0"/>
          <p:cNvSpPr/>
          <p:nvPr/>
        </p:nvSpPr>
        <p:spPr>
          <a:xfrm>
            <a:off x="6235920" y="1536120"/>
            <a:ext cx="137160" cy="360"/>
          </a:xfrm>
          <a:prstGeom prst="line">
            <a:avLst/>
          </a:prstGeom>
          <a:ln w="25400">
            <a:solidFill>
              <a:srgbClr val="1a5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1"/>
          <p:cNvSpPr/>
          <p:nvPr/>
        </p:nvSpPr>
        <p:spPr>
          <a:xfrm>
            <a:off x="6254640" y="1444680"/>
            <a:ext cx="182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1a56db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2"/>
          <p:cNvSpPr/>
          <p:nvPr/>
        </p:nvSpPr>
        <p:spPr>
          <a:xfrm>
            <a:off x="6373440" y="1005840"/>
            <a:ext cx="1078560" cy="1096920"/>
          </a:xfrm>
          <a:prstGeom prst="roundRect">
            <a:avLst>
              <a:gd name="adj" fmla="val 8475"/>
            </a:avLst>
          </a:prstGeom>
          <a:solidFill>
            <a:srgbClr val="02809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3"/>
          <p:cNvSpPr/>
          <p:nvPr/>
        </p:nvSpPr>
        <p:spPr>
          <a:xfrm>
            <a:off x="6373440" y="1024200"/>
            <a:ext cx="107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4"/>
          <p:cNvSpPr/>
          <p:nvPr/>
        </p:nvSpPr>
        <p:spPr>
          <a:xfrm>
            <a:off x="6373440" y="1298520"/>
            <a:ext cx="107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Review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5"/>
          <p:cNvSpPr/>
          <p:nvPr/>
        </p:nvSpPr>
        <p:spPr>
          <a:xfrm>
            <a:off x="6373440" y="1572840"/>
            <a:ext cx="1078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Clinician UI +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feedback capture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6"/>
          <p:cNvSpPr/>
          <p:nvPr/>
        </p:nvSpPr>
        <p:spPr>
          <a:xfrm>
            <a:off x="7452360" y="1536120"/>
            <a:ext cx="137160" cy="360"/>
          </a:xfrm>
          <a:prstGeom prst="line">
            <a:avLst/>
          </a:prstGeom>
          <a:ln w="25400">
            <a:solidFill>
              <a:srgbClr val="1a5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7"/>
          <p:cNvSpPr/>
          <p:nvPr/>
        </p:nvSpPr>
        <p:spPr>
          <a:xfrm>
            <a:off x="7470720" y="1444680"/>
            <a:ext cx="182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1a56db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38"/>
          <p:cNvSpPr/>
          <p:nvPr/>
        </p:nvSpPr>
        <p:spPr>
          <a:xfrm>
            <a:off x="7589520" y="1005840"/>
            <a:ext cx="1078560" cy="1096920"/>
          </a:xfrm>
          <a:prstGeom prst="roundRect">
            <a:avLst>
              <a:gd name="adj" fmla="val 8475"/>
            </a:avLst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9"/>
          <p:cNvSpPr/>
          <p:nvPr/>
        </p:nvSpPr>
        <p:spPr>
          <a:xfrm>
            <a:off x="7589520" y="1024200"/>
            <a:ext cx="107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0"/>
          <p:cNvSpPr/>
          <p:nvPr/>
        </p:nvSpPr>
        <p:spPr>
          <a:xfrm>
            <a:off x="7589520" y="1298520"/>
            <a:ext cx="107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Audit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1"/>
          <p:cNvSpPr/>
          <p:nvPr/>
        </p:nvSpPr>
        <p:spPr>
          <a:xfrm>
            <a:off x="7589520" y="1572840"/>
            <a:ext cx="1078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Immutable log +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benchmark report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42"/>
          <p:cNvSpPr/>
          <p:nvPr/>
        </p:nvSpPr>
        <p:spPr>
          <a:xfrm>
            <a:off x="5413320" y="2121480"/>
            <a:ext cx="1078560" cy="200880"/>
          </a:xfrm>
          <a:prstGeom prst="rect">
            <a:avLst/>
          </a:prstGeom>
          <a:solidFill>
            <a:srgbClr val="e03e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⚠ BLOCKING GATE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43"/>
          <p:cNvSpPr/>
          <p:nvPr/>
        </p:nvSpPr>
        <p:spPr>
          <a:xfrm>
            <a:off x="365760" y="2468880"/>
            <a:ext cx="2697120" cy="141696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44"/>
          <p:cNvSpPr/>
          <p:nvPr/>
        </p:nvSpPr>
        <p:spPr>
          <a:xfrm>
            <a:off x="475560" y="2541960"/>
            <a:ext cx="248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Map-Reduce Chunking (Stage 3)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45"/>
          <p:cNvSpPr/>
          <p:nvPr/>
        </p:nvSpPr>
        <p:spPr>
          <a:xfrm>
            <a:off x="475560" y="2871360"/>
            <a:ext cx="2486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Overlapping, sentence-safe splits → per-chunk summaries → final reduced summary. Handles 20k+ token documents that exceed any LLM's context window.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46"/>
          <p:cNvSpPr/>
          <p:nvPr/>
        </p:nvSpPr>
        <p:spPr>
          <a:xfrm>
            <a:off x="3273480" y="2468880"/>
            <a:ext cx="2697120" cy="141696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7"/>
          <p:cNvSpPr/>
          <p:nvPr/>
        </p:nvSpPr>
        <p:spPr>
          <a:xfrm>
            <a:off x="3383280" y="2541960"/>
            <a:ext cx="248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In-Line Verification (Stage 5)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48"/>
          <p:cNvSpPr/>
          <p:nvPr/>
        </p:nvSpPr>
        <p:spPr>
          <a:xfrm>
            <a:off x="3383280" y="2871360"/>
            <a:ext cx="2486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Every summary sentence scored for NLI entailment + entity/numeric grounding against its source chunk. Summary is BLOCKED until all sentences pass threshold.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49"/>
          <p:cNvSpPr/>
          <p:nvPr/>
        </p:nvSpPr>
        <p:spPr>
          <a:xfrm>
            <a:off x="6181200" y="2468880"/>
            <a:ext cx="2697120" cy="141696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50"/>
          <p:cNvSpPr/>
          <p:nvPr/>
        </p:nvSpPr>
        <p:spPr>
          <a:xfrm>
            <a:off x="6291000" y="2541960"/>
            <a:ext cx="248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Pluggable Backends (Stage 4)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51"/>
          <p:cNvSpPr/>
          <p:nvPr/>
        </p:nvSpPr>
        <p:spPr>
          <a:xfrm>
            <a:off x="6291000" y="2871360"/>
            <a:ext cx="2486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LocalModelServiceBackend (self-hosted HF model) or HostedLLMBackend (API). Swappable via config — enables head-to-head benchmarking with no code changes.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0"/>
          <p:cNvSpPr/>
          <p:nvPr/>
        </p:nvSpPr>
        <p:spPr>
          <a:xfrm>
            <a:off x="411480" y="1645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05  ·  SYSTEM 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457200" y="2926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Tech Stack (MERN)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"/>
          <p:cNvSpPr/>
          <p:nvPr/>
        </p:nvSpPr>
        <p:spPr>
          <a:xfrm>
            <a:off x="365760" y="1005840"/>
            <a:ext cx="4114440" cy="11426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3"/>
          <p:cNvSpPr/>
          <p:nvPr/>
        </p:nvSpPr>
        <p:spPr>
          <a:xfrm>
            <a:off x="365760" y="1005840"/>
            <a:ext cx="4114440" cy="200880"/>
          </a:xfrm>
          <a:prstGeom prst="roundRect">
            <a:avLst>
              <a:gd name="adj" fmla="val 31818"/>
            </a:avLst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4"/>
          <p:cNvSpPr/>
          <p:nvPr/>
        </p:nvSpPr>
        <p:spPr>
          <a:xfrm>
            <a:off x="475560" y="12528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Frontend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5"/>
          <p:cNvSpPr/>
          <p:nvPr/>
        </p:nvSpPr>
        <p:spPr>
          <a:xfrm>
            <a:off x="475560" y="150876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a56db"/>
                </a:solidFill>
                <a:effectLst/>
                <a:uFillTx/>
                <a:latin typeface="Calibri"/>
                <a:ea typeface="Calibri"/>
              </a:rPr>
              <a:t>React + TypeScript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a56db"/>
                </a:solidFill>
                <a:effectLst/>
                <a:uFillTx/>
                <a:latin typeface="Calibri"/>
                <a:ea typeface="Calibri"/>
              </a:rPr>
              <a:t>Vite + Tailwind CSS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2377440" y="150876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Clinician review, flagged-claim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highlighting, feedback form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7"/>
          <p:cNvSpPr/>
          <p:nvPr/>
        </p:nvSpPr>
        <p:spPr>
          <a:xfrm>
            <a:off x="4754880" y="1005840"/>
            <a:ext cx="4114440" cy="11426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8"/>
          <p:cNvSpPr/>
          <p:nvPr/>
        </p:nvSpPr>
        <p:spPr>
          <a:xfrm>
            <a:off x="4754880" y="1005840"/>
            <a:ext cx="4114440" cy="200880"/>
          </a:xfrm>
          <a:prstGeom prst="roundRect">
            <a:avLst>
              <a:gd name="adj" fmla="val 31818"/>
            </a:avLst>
          </a:prstGeom>
          <a:solidFill>
            <a:srgbClr val="02809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9"/>
          <p:cNvSpPr/>
          <p:nvPr/>
        </p:nvSpPr>
        <p:spPr>
          <a:xfrm>
            <a:off x="4864680" y="12528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Backend API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4864680" y="150876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Node.js + Express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+ TypeScript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1"/>
          <p:cNvSpPr/>
          <p:nvPr/>
        </p:nvSpPr>
        <p:spPr>
          <a:xfrm>
            <a:off x="6766560" y="150876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REST API, auth (JWT), BullMQ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job dispatch, audit logging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2"/>
          <p:cNvSpPr/>
          <p:nvPr/>
        </p:nvSpPr>
        <p:spPr>
          <a:xfrm>
            <a:off x="365760" y="2267640"/>
            <a:ext cx="4114440" cy="11426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3"/>
          <p:cNvSpPr/>
          <p:nvPr/>
        </p:nvSpPr>
        <p:spPr>
          <a:xfrm>
            <a:off x="365760" y="2267640"/>
            <a:ext cx="4114440" cy="200880"/>
          </a:xfrm>
          <a:prstGeom prst="roundRect">
            <a:avLst>
              <a:gd name="adj" fmla="val 31818"/>
            </a:avLst>
          </a:prstGeom>
          <a:solidFill>
            <a:srgbClr val="f5a623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4"/>
          <p:cNvSpPr/>
          <p:nvPr/>
        </p:nvSpPr>
        <p:spPr>
          <a:xfrm>
            <a:off x="475560" y="25146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Database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5"/>
          <p:cNvSpPr/>
          <p:nvPr/>
        </p:nvSpPr>
        <p:spPr>
          <a:xfrm>
            <a:off x="475560" y="277056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5a623"/>
                </a:solidFill>
                <a:effectLst/>
                <a:uFillTx/>
                <a:latin typeface="Calibri"/>
                <a:ea typeface="Calibri"/>
              </a:rPr>
              <a:t>MongoDB + Mongoose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6"/>
          <p:cNvSpPr/>
          <p:nvPr/>
        </p:nvSpPr>
        <p:spPr>
          <a:xfrm>
            <a:off x="2377440" y="277056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Documents, summaries, jobs,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feedback, audit logs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7"/>
          <p:cNvSpPr/>
          <p:nvPr/>
        </p:nvSpPr>
        <p:spPr>
          <a:xfrm>
            <a:off x="4754880" y="2267640"/>
            <a:ext cx="4114440" cy="11426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8"/>
          <p:cNvSpPr/>
          <p:nvPr/>
        </p:nvSpPr>
        <p:spPr>
          <a:xfrm>
            <a:off x="4754880" y="2267640"/>
            <a:ext cx="4114440" cy="200880"/>
          </a:xfrm>
          <a:prstGeom prst="roundRect">
            <a:avLst>
              <a:gd name="adj" fmla="val 31818"/>
            </a:avLst>
          </a:prstGeom>
          <a:solidFill>
            <a:srgbClr val="6d2e4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9"/>
          <p:cNvSpPr/>
          <p:nvPr/>
        </p:nvSpPr>
        <p:spPr>
          <a:xfrm>
            <a:off x="4864680" y="25146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Queue / Worker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0"/>
          <p:cNvSpPr/>
          <p:nvPr/>
        </p:nvSpPr>
        <p:spPr>
          <a:xfrm>
            <a:off x="4864680" y="277056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6d2e46"/>
                </a:solidFill>
                <a:effectLst/>
                <a:uFillTx/>
                <a:latin typeface="Calibri"/>
                <a:ea typeface="Calibri"/>
              </a:rPr>
              <a:t>Redis + BullMQ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6d2e46"/>
                </a:solidFill>
                <a:effectLst/>
                <a:uFillTx/>
                <a:latin typeface="Calibri"/>
                <a:ea typeface="Calibri"/>
              </a:rPr>
              <a:t>(Node.js)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1"/>
          <p:cNvSpPr/>
          <p:nvPr/>
        </p:nvSpPr>
        <p:spPr>
          <a:xfrm>
            <a:off x="6766560" y="277056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Background summarization &amp;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verification jobs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22"/>
          <p:cNvSpPr/>
          <p:nvPr/>
        </p:nvSpPr>
        <p:spPr>
          <a:xfrm>
            <a:off x="365760" y="3529440"/>
            <a:ext cx="4114440" cy="11426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3"/>
          <p:cNvSpPr/>
          <p:nvPr/>
        </p:nvSpPr>
        <p:spPr>
          <a:xfrm>
            <a:off x="365760" y="3529440"/>
            <a:ext cx="4114440" cy="200880"/>
          </a:xfrm>
          <a:prstGeom prst="roundRect">
            <a:avLst>
              <a:gd name="adj" fmla="val 31818"/>
            </a:avLst>
          </a:prstGeom>
          <a:solidFill>
            <a:srgbClr val="e03e5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4"/>
          <p:cNvSpPr/>
          <p:nvPr/>
        </p:nvSpPr>
        <p:spPr>
          <a:xfrm>
            <a:off x="475560" y="37764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Model Service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5"/>
          <p:cNvSpPr/>
          <p:nvPr/>
        </p:nvSpPr>
        <p:spPr>
          <a:xfrm>
            <a:off x="475560" y="403236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e03e52"/>
                </a:solidFill>
                <a:effectLst/>
                <a:uFillTx/>
                <a:latin typeface="Calibri"/>
                <a:ea typeface="Calibri"/>
              </a:rPr>
              <a:t>Python + FastAPI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e03e52"/>
                </a:solidFill>
                <a:effectLst/>
                <a:uFillTx/>
                <a:latin typeface="Calibri"/>
                <a:ea typeface="Calibri"/>
              </a:rPr>
              <a:t>(isolated microservice)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6"/>
          <p:cNvSpPr/>
          <p:nvPr/>
        </p:nvSpPr>
        <p:spPr>
          <a:xfrm>
            <a:off x="2377440" y="403236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Local HF model inference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(ClinicalT5 / BioBART); only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Python component in system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27"/>
          <p:cNvSpPr/>
          <p:nvPr/>
        </p:nvSpPr>
        <p:spPr>
          <a:xfrm>
            <a:off x="4754880" y="3529440"/>
            <a:ext cx="4114440" cy="11426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8"/>
          <p:cNvSpPr/>
          <p:nvPr/>
        </p:nvSpPr>
        <p:spPr>
          <a:xfrm>
            <a:off x="4754880" y="3529440"/>
            <a:ext cx="4114440" cy="200880"/>
          </a:xfrm>
          <a:prstGeom prst="roundRect">
            <a:avLst>
              <a:gd name="adj" fmla="val 31818"/>
            </a:avLst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9"/>
          <p:cNvSpPr/>
          <p:nvPr/>
        </p:nvSpPr>
        <p:spPr>
          <a:xfrm>
            <a:off x="4864680" y="37764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Validation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30"/>
          <p:cNvSpPr/>
          <p:nvPr/>
        </p:nvSpPr>
        <p:spPr>
          <a:xfrm>
            <a:off x="4864680" y="403236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a56db"/>
                </a:solidFill>
                <a:effectLst/>
                <a:uFillTx/>
                <a:latin typeface="Calibri"/>
                <a:ea typeface="Calibri"/>
              </a:rPr>
              <a:t>Zod (Node)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a56db"/>
                </a:solidFill>
                <a:effectLst/>
                <a:uFillTx/>
                <a:latin typeface="Calibri"/>
                <a:ea typeface="Calibri"/>
              </a:rPr>
              <a:t>Pydantic (model-service)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1"/>
          <p:cNvSpPr/>
          <p:nvPr/>
        </p:nvSpPr>
        <p:spPr>
          <a:xfrm>
            <a:off x="6766560" y="403236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Request/response schema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validation across services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 0"/>
          <p:cNvSpPr/>
          <p:nvPr/>
        </p:nvSpPr>
        <p:spPr>
          <a:xfrm>
            <a:off x="411480" y="1645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06  ·  KEY FEATURES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"/>
          <p:cNvSpPr/>
          <p:nvPr/>
        </p:nvSpPr>
        <p:spPr>
          <a:xfrm>
            <a:off x="457200" y="3200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What Makes VeriSumm Different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"/>
          <p:cNvSpPr/>
          <p:nvPr/>
        </p:nvSpPr>
        <p:spPr>
          <a:xfrm>
            <a:off x="365760" y="960120"/>
            <a:ext cx="4114440" cy="1005480"/>
          </a:xfrm>
          <a:prstGeom prst="roundRect">
            <a:avLst>
              <a:gd name="adj" fmla="val 6364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"/>
          <p:cNvSpPr/>
          <p:nvPr/>
        </p:nvSpPr>
        <p:spPr>
          <a:xfrm>
            <a:off x="475560" y="1234440"/>
            <a:ext cx="347040" cy="347040"/>
          </a:xfrm>
          <a:prstGeom prst="ellipse">
            <a:avLst/>
          </a:prstGeom>
          <a:solidFill>
            <a:srgbClr val="e03e5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4"/>
          <p:cNvSpPr/>
          <p:nvPr/>
        </p:nvSpPr>
        <p:spPr>
          <a:xfrm>
            <a:off x="475560" y="12344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5"/>
          <p:cNvSpPr/>
          <p:nvPr/>
        </p:nvSpPr>
        <p:spPr>
          <a:xfrm>
            <a:off x="932760" y="1051560"/>
            <a:ext cx="3456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Blocking Verification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6"/>
          <p:cNvSpPr/>
          <p:nvPr/>
        </p:nvSpPr>
        <p:spPr>
          <a:xfrm>
            <a:off x="932760" y="1362600"/>
            <a:ext cx="3456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Summaries are held until every sentence passes NLI + entity grounding checks — hallucinated claims never reach the clinician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7"/>
          <p:cNvSpPr/>
          <p:nvPr/>
        </p:nvSpPr>
        <p:spPr>
          <a:xfrm>
            <a:off x="4754880" y="960120"/>
            <a:ext cx="4114440" cy="1005480"/>
          </a:xfrm>
          <a:prstGeom prst="roundRect">
            <a:avLst>
              <a:gd name="adj" fmla="val 6364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8"/>
          <p:cNvSpPr/>
          <p:nvPr/>
        </p:nvSpPr>
        <p:spPr>
          <a:xfrm>
            <a:off x="4864680" y="1234440"/>
            <a:ext cx="347040" cy="34704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9"/>
          <p:cNvSpPr/>
          <p:nvPr/>
        </p:nvSpPr>
        <p:spPr>
          <a:xfrm>
            <a:off x="4864680" y="12344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0"/>
          <p:cNvSpPr/>
          <p:nvPr/>
        </p:nvSpPr>
        <p:spPr>
          <a:xfrm>
            <a:off x="5321880" y="1051560"/>
            <a:ext cx="3456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Pluggable Backends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1"/>
          <p:cNvSpPr/>
          <p:nvPr/>
        </p:nvSpPr>
        <p:spPr>
          <a:xfrm>
            <a:off x="5321880" y="1362600"/>
            <a:ext cx="3456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Swap models via config (ClinicalT5, BioBART, hosted LLM) — no code changes; enables head-to-head benchmarking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2"/>
          <p:cNvSpPr/>
          <p:nvPr/>
        </p:nvSpPr>
        <p:spPr>
          <a:xfrm>
            <a:off x="365760" y="2103120"/>
            <a:ext cx="4114440" cy="1005480"/>
          </a:xfrm>
          <a:prstGeom prst="roundRect">
            <a:avLst>
              <a:gd name="adj" fmla="val 6364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3"/>
          <p:cNvSpPr/>
          <p:nvPr/>
        </p:nvSpPr>
        <p:spPr>
          <a:xfrm>
            <a:off x="475560" y="2377440"/>
            <a:ext cx="347040" cy="347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4"/>
          <p:cNvSpPr/>
          <p:nvPr/>
        </p:nvSpPr>
        <p:spPr>
          <a:xfrm>
            <a:off x="475560" y="23774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5"/>
          <p:cNvSpPr/>
          <p:nvPr/>
        </p:nvSpPr>
        <p:spPr>
          <a:xfrm>
            <a:off x="932760" y="2194560"/>
            <a:ext cx="3456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Long-Doc Handling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6"/>
          <p:cNvSpPr/>
          <p:nvPr/>
        </p:nvSpPr>
        <p:spPr>
          <a:xfrm>
            <a:off x="932760" y="2505600"/>
            <a:ext cx="3456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Map-reduce hierarchical chunking handles EHR timelines of 20k+ tokens without truncating clinical content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7"/>
          <p:cNvSpPr/>
          <p:nvPr/>
        </p:nvSpPr>
        <p:spPr>
          <a:xfrm>
            <a:off x="4754880" y="2103120"/>
            <a:ext cx="4114440" cy="1005480"/>
          </a:xfrm>
          <a:prstGeom prst="roundRect">
            <a:avLst>
              <a:gd name="adj" fmla="val 6364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8"/>
          <p:cNvSpPr/>
          <p:nvPr/>
        </p:nvSpPr>
        <p:spPr>
          <a:xfrm>
            <a:off x="4864680" y="2377440"/>
            <a:ext cx="347040" cy="347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9"/>
          <p:cNvSpPr/>
          <p:nvPr/>
        </p:nvSpPr>
        <p:spPr>
          <a:xfrm>
            <a:off x="4864680" y="23774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0"/>
          <p:cNvSpPr/>
          <p:nvPr/>
        </p:nvSpPr>
        <p:spPr>
          <a:xfrm>
            <a:off x="5321880" y="2194560"/>
            <a:ext cx="3456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PHI De-Identification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1"/>
          <p:cNvSpPr/>
          <p:nvPr/>
        </p:nvSpPr>
        <p:spPr>
          <a:xfrm>
            <a:off x="5321880" y="2505600"/>
            <a:ext cx="3456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Regex + NER de-ID before any model sees the text; raw PHI never stored in MongoDB; self-hosted/offline mode for full privacy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2"/>
          <p:cNvSpPr/>
          <p:nvPr/>
        </p:nvSpPr>
        <p:spPr>
          <a:xfrm>
            <a:off x="365760" y="3246120"/>
            <a:ext cx="4114440" cy="1005480"/>
          </a:xfrm>
          <a:prstGeom prst="roundRect">
            <a:avLst>
              <a:gd name="adj" fmla="val 6364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23"/>
          <p:cNvSpPr/>
          <p:nvPr/>
        </p:nvSpPr>
        <p:spPr>
          <a:xfrm>
            <a:off x="475560" y="3520440"/>
            <a:ext cx="347040" cy="34704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4"/>
          <p:cNvSpPr/>
          <p:nvPr/>
        </p:nvSpPr>
        <p:spPr>
          <a:xfrm>
            <a:off x="475560" y="35204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25"/>
          <p:cNvSpPr/>
          <p:nvPr/>
        </p:nvSpPr>
        <p:spPr>
          <a:xfrm>
            <a:off x="932760" y="3337560"/>
            <a:ext cx="3456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Clinician Feedback Loop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6"/>
          <p:cNvSpPr/>
          <p:nvPr/>
        </p:nvSpPr>
        <p:spPr>
          <a:xfrm>
            <a:off x="932760" y="3648600"/>
            <a:ext cx="3456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Structured correctness/completeness/conciseness ratings captured alongside every summary, building a dataset that measures metric vs. human judgment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27"/>
          <p:cNvSpPr/>
          <p:nvPr/>
        </p:nvSpPr>
        <p:spPr>
          <a:xfrm>
            <a:off x="4754880" y="3246120"/>
            <a:ext cx="4114440" cy="1005480"/>
          </a:xfrm>
          <a:prstGeom prst="roundRect">
            <a:avLst>
              <a:gd name="adj" fmla="val 6364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28"/>
          <p:cNvSpPr/>
          <p:nvPr/>
        </p:nvSpPr>
        <p:spPr>
          <a:xfrm>
            <a:off x="4864680" y="3520440"/>
            <a:ext cx="347040" cy="34704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9"/>
          <p:cNvSpPr/>
          <p:nvPr/>
        </p:nvSpPr>
        <p:spPr>
          <a:xfrm>
            <a:off x="4864680" y="35204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30"/>
          <p:cNvSpPr/>
          <p:nvPr/>
        </p:nvSpPr>
        <p:spPr>
          <a:xfrm>
            <a:off x="5321880" y="3337560"/>
            <a:ext cx="3456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Immutable Audit Log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1"/>
          <p:cNvSpPr/>
          <p:nvPr/>
        </p:nvSpPr>
        <p:spPr>
          <a:xfrm>
            <a:off x="5321880" y="3648600"/>
            <a:ext cx="3456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Every upload, summarization, verification, review, and export is append-only logged — supporting prospective evaluation studies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 0"/>
          <p:cNvSpPr/>
          <p:nvPr/>
        </p:nvSpPr>
        <p:spPr>
          <a:xfrm>
            <a:off x="411480" y="1645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07  ·  DATASET PLAN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"/>
          <p:cNvSpPr/>
          <p:nvPr/>
        </p:nvSpPr>
        <p:spPr>
          <a:xfrm>
            <a:off x="457200" y="2926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Training &amp; Evaluation Datasets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"/>
          <p:cNvSpPr/>
          <p:nvPr/>
        </p:nvSpPr>
        <p:spPr>
          <a:xfrm>
            <a:off x="365760" y="1005840"/>
            <a:ext cx="8412120" cy="74952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3"/>
          <p:cNvSpPr/>
          <p:nvPr/>
        </p:nvSpPr>
        <p:spPr>
          <a:xfrm>
            <a:off x="365760" y="1005840"/>
            <a:ext cx="164160" cy="749520"/>
          </a:xfrm>
          <a:prstGeom prst="roundRect">
            <a:avLst>
              <a:gd name="adj" fmla="val 22222"/>
            </a:avLst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4"/>
          <p:cNvSpPr/>
          <p:nvPr/>
        </p:nvSpPr>
        <p:spPr>
          <a:xfrm>
            <a:off x="640080" y="106056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MIMIC-III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5"/>
          <p:cNvSpPr/>
          <p:nvPr/>
        </p:nvSpPr>
        <p:spPr>
          <a:xfrm>
            <a:off x="640080" y="14263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i="1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PhysioNet / MIT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6"/>
          <p:cNvSpPr/>
          <p:nvPr/>
        </p:nvSpPr>
        <p:spPr>
          <a:xfrm>
            <a:off x="2377440" y="111564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~59K discharge summaries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~522K radiology reports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7"/>
          <p:cNvSpPr/>
          <p:nvPr/>
        </p:nvSpPr>
        <p:spPr>
          <a:xfrm>
            <a:off x="4709160" y="111564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Free, credentialed access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(CITI training + PhysioNet)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8"/>
          <p:cNvSpPr/>
          <p:nvPr/>
        </p:nvSpPr>
        <p:spPr>
          <a:xfrm>
            <a:off x="6720840" y="1115640"/>
            <a:ext cx="1965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a56db"/>
                </a:solidFill>
                <a:effectLst/>
                <a:uFillTx/>
                <a:latin typeface="Calibri"/>
                <a:ea typeface="Calibri"/>
              </a:rPr>
              <a:t>Primary clinical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a56db"/>
                </a:solidFill>
                <a:effectLst/>
                <a:uFillTx/>
                <a:latin typeface="Calibri"/>
                <a:ea typeface="Calibri"/>
              </a:rPr>
              <a:t>summarization dataset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9"/>
          <p:cNvSpPr/>
          <p:nvPr/>
        </p:nvSpPr>
        <p:spPr>
          <a:xfrm>
            <a:off x="365760" y="1847160"/>
            <a:ext cx="8412120" cy="74952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0"/>
          <p:cNvSpPr/>
          <p:nvPr/>
        </p:nvSpPr>
        <p:spPr>
          <a:xfrm>
            <a:off x="365760" y="1847160"/>
            <a:ext cx="164160" cy="74952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1"/>
          <p:cNvSpPr/>
          <p:nvPr/>
        </p:nvSpPr>
        <p:spPr>
          <a:xfrm>
            <a:off x="640080" y="190188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PubMed Abstracts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2"/>
          <p:cNvSpPr/>
          <p:nvPr/>
        </p:nvSpPr>
        <p:spPr>
          <a:xfrm>
            <a:off x="640080" y="226764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i="1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NCBI E-Utilities API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3"/>
          <p:cNvSpPr/>
          <p:nvPr/>
        </p:nvSpPr>
        <p:spPr>
          <a:xfrm>
            <a:off x="2377440" y="195696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Millions of abstracts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(MeSH-filtered subsets)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4"/>
          <p:cNvSpPr/>
          <p:nvPr/>
        </p:nvSpPr>
        <p:spPr>
          <a:xfrm>
            <a:off x="4709160" y="195696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Fully open access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No credentialing needed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5"/>
          <p:cNvSpPr/>
          <p:nvPr/>
        </p:nvSpPr>
        <p:spPr>
          <a:xfrm>
            <a:off x="6720840" y="1956960"/>
            <a:ext cx="1965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Biomedical literature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summarization (eval)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6"/>
          <p:cNvSpPr/>
          <p:nvPr/>
        </p:nvSpPr>
        <p:spPr>
          <a:xfrm>
            <a:off x="365760" y="2688480"/>
            <a:ext cx="8412120" cy="74952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7"/>
          <p:cNvSpPr/>
          <p:nvPr/>
        </p:nvSpPr>
        <p:spPr>
          <a:xfrm>
            <a:off x="365760" y="2688480"/>
            <a:ext cx="164160" cy="749520"/>
          </a:xfrm>
          <a:prstGeom prst="roundRect">
            <a:avLst>
              <a:gd name="adj" fmla="val 22222"/>
            </a:avLst>
          </a:prstGeom>
          <a:solidFill>
            <a:srgbClr val="f5a623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8"/>
          <p:cNvSpPr/>
          <p:nvPr/>
        </p:nvSpPr>
        <p:spPr>
          <a:xfrm>
            <a:off x="640080" y="274320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MeQSum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9"/>
          <p:cNvSpPr/>
          <p:nvPr/>
        </p:nvSpPr>
        <p:spPr>
          <a:xfrm>
            <a:off x="640080" y="310896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i="1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Public benchmark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0"/>
          <p:cNvSpPr/>
          <p:nvPr/>
        </p:nvSpPr>
        <p:spPr>
          <a:xfrm>
            <a:off x="2377440" y="279792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1,000 question-summary pairs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1"/>
          <p:cNvSpPr/>
          <p:nvPr/>
        </p:nvSpPr>
        <p:spPr>
          <a:xfrm>
            <a:off x="4709160" y="279792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Fully open access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2"/>
          <p:cNvSpPr/>
          <p:nvPr/>
        </p:nvSpPr>
        <p:spPr>
          <a:xfrm>
            <a:off x="6720840" y="2797920"/>
            <a:ext cx="1965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5a623"/>
                </a:solidFill>
                <a:effectLst/>
                <a:uFillTx/>
                <a:latin typeface="Calibri"/>
                <a:ea typeface="Calibri"/>
              </a:rPr>
              <a:t>Consumer health Q&amp;A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5a623"/>
                </a:solidFill>
                <a:effectLst/>
                <a:uFillTx/>
                <a:latin typeface="Calibri"/>
                <a:ea typeface="Calibri"/>
              </a:rPr>
              <a:t>summarization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3"/>
          <p:cNvSpPr/>
          <p:nvPr/>
        </p:nvSpPr>
        <p:spPr>
          <a:xfrm>
            <a:off x="365760" y="3529440"/>
            <a:ext cx="8412120" cy="74952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4"/>
          <p:cNvSpPr/>
          <p:nvPr/>
        </p:nvSpPr>
        <p:spPr>
          <a:xfrm>
            <a:off x="365760" y="3529440"/>
            <a:ext cx="164160" cy="749520"/>
          </a:xfrm>
          <a:prstGeom prst="roundRect">
            <a:avLst>
              <a:gd name="adj" fmla="val 22222"/>
            </a:avLst>
          </a:prstGeom>
          <a:solidFill>
            <a:srgbClr val="6d2e4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5"/>
          <p:cNvSpPr/>
          <p:nvPr/>
        </p:nvSpPr>
        <p:spPr>
          <a:xfrm>
            <a:off x="640080" y="358452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mbria"/>
                <a:ea typeface="Cambria"/>
              </a:rPr>
              <a:t>Synthetic Fixtures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6"/>
          <p:cNvSpPr/>
          <p:nvPr/>
        </p:nvSpPr>
        <p:spPr>
          <a:xfrm>
            <a:off x="640080" y="395028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i="1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Team-authored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7"/>
          <p:cNvSpPr/>
          <p:nvPr/>
        </p:nvSpPr>
        <p:spPr>
          <a:xfrm>
            <a:off x="2377440" y="363924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~30 fabricated clinical notes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with known PHI + injected claims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8"/>
          <p:cNvSpPr/>
          <p:nvPr/>
        </p:nvSpPr>
        <p:spPr>
          <a:xfrm>
            <a:off x="4709160" y="363924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No access needed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(100% fabricated)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9"/>
          <p:cNvSpPr/>
          <p:nvPr/>
        </p:nvSpPr>
        <p:spPr>
          <a:xfrm>
            <a:off x="6720840" y="3639240"/>
            <a:ext cx="1965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6d2e46"/>
                </a:solidFill>
                <a:effectLst/>
                <a:uFillTx/>
                <a:latin typeface="Calibri"/>
                <a:ea typeface="Calibri"/>
              </a:rPr>
              <a:t>De-ID + verification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6d2e46"/>
                </a:solidFill>
                <a:effectLst/>
                <a:uFillTx/>
                <a:latin typeface="Calibri"/>
                <a:ea typeface="Calibri"/>
              </a:rPr>
              <a:t>unit testing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0"/>
          <p:cNvSpPr/>
          <p:nvPr/>
        </p:nvSpPr>
        <p:spPr>
          <a:xfrm>
            <a:off x="640080" y="91440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Dataset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31"/>
          <p:cNvSpPr/>
          <p:nvPr/>
        </p:nvSpPr>
        <p:spPr>
          <a:xfrm>
            <a:off x="640080" y="91440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Source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32"/>
          <p:cNvSpPr/>
          <p:nvPr/>
        </p:nvSpPr>
        <p:spPr>
          <a:xfrm>
            <a:off x="365760" y="443484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MIMIC-III requires CITI training completion + PhysioNet credentialed account (free, ~1–2 weeks).  No real patient data is used for unit testing — only team-authored synthetic fixtures.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0"/>
          <p:cNvSpPr/>
          <p:nvPr/>
        </p:nvSpPr>
        <p:spPr>
          <a:xfrm>
            <a:off x="411480" y="1645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HOW GAPS MAP TO FEATURES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"/>
          <p:cNvSpPr/>
          <p:nvPr/>
        </p:nvSpPr>
        <p:spPr>
          <a:xfrm>
            <a:off x="457200" y="3200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Every Gap Has a Solution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"/>
          <p:cNvSpPr/>
          <p:nvPr/>
        </p:nvSpPr>
        <p:spPr>
          <a:xfrm>
            <a:off x="365760" y="1005840"/>
            <a:ext cx="3474360" cy="639720"/>
          </a:xfrm>
          <a:prstGeom prst="roundRect">
            <a:avLst>
              <a:gd name="adj" fmla="val 11429"/>
            </a:avLst>
          </a:prstGeom>
          <a:solidFill>
            <a:srgbClr val="1a56db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"/>
          <p:cNvSpPr/>
          <p:nvPr/>
        </p:nvSpPr>
        <p:spPr>
          <a:xfrm>
            <a:off x="502920" y="109728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G1 Evaluation methodology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4"/>
          <p:cNvSpPr/>
          <p:nvPr/>
        </p:nvSpPr>
        <p:spPr>
          <a:xfrm>
            <a:off x="3931920" y="1115640"/>
            <a:ext cx="365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5"/>
          <p:cNvSpPr/>
          <p:nvPr/>
        </p:nvSpPr>
        <p:spPr>
          <a:xfrm>
            <a:off x="4389120" y="1005840"/>
            <a:ext cx="4388760" cy="639720"/>
          </a:xfrm>
          <a:prstGeom prst="roundRect">
            <a:avLst>
              <a:gd name="adj" fmla="val 10000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6"/>
          <p:cNvSpPr/>
          <p:nvPr/>
        </p:nvSpPr>
        <p:spPr>
          <a:xfrm>
            <a:off x="4526280" y="109728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Clinician feedback form + metric-vs-human correlation harness (chunks 0.8, 0.10)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7"/>
          <p:cNvSpPr/>
          <p:nvPr/>
        </p:nvSpPr>
        <p:spPr>
          <a:xfrm>
            <a:off x="365760" y="1764720"/>
            <a:ext cx="3474360" cy="639720"/>
          </a:xfrm>
          <a:prstGeom prst="roundRect">
            <a:avLst>
              <a:gd name="adj" fmla="val 11429"/>
            </a:avLst>
          </a:prstGeom>
          <a:solidFill>
            <a:srgbClr val="e03e52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8"/>
          <p:cNvSpPr/>
          <p:nvPr/>
        </p:nvSpPr>
        <p:spPr>
          <a:xfrm>
            <a:off x="502920" y="185616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G2 Factuality / hallucination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9"/>
          <p:cNvSpPr/>
          <p:nvPr/>
        </p:nvSpPr>
        <p:spPr>
          <a:xfrm>
            <a:off x="3931920" y="1874520"/>
            <a:ext cx="365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0"/>
          <p:cNvSpPr/>
          <p:nvPr/>
        </p:nvSpPr>
        <p:spPr>
          <a:xfrm>
            <a:off x="4389120" y="1764720"/>
            <a:ext cx="4388760" cy="639720"/>
          </a:xfrm>
          <a:prstGeom prst="roundRect">
            <a:avLst>
              <a:gd name="adj" fmla="val 10000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1"/>
          <p:cNvSpPr/>
          <p:nvPr/>
        </p:nvSpPr>
        <p:spPr>
          <a:xfrm>
            <a:off x="4526280" y="185616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In-line blocking verification module — NLI + entity grounding (chunk 0.7)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2"/>
          <p:cNvSpPr/>
          <p:nvPr/>
        </p:nvSpPr>
        <p:spPr>
          <a:xfrm>
            <a:off x="365760" y="2523600"/>
            <a:ext cx="3474360" cy="639720"/>
          </a:xfrm>
          <a:prstGeom prst="roundRect">
            <a:avLst>
              <a:gd name="adj" fmla="val 11429"/>
            </a:avLst>
          </a:prstGeom>
          <a:solidFill>
            <a:srgbClr val="f5a623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3"/>
          <p:cNvSpPr/>
          <p:nvPr/>
        </p:nvSpPr>
        <p:spPr>
          <a:xfrm>
            <a:off x="502920" y="26150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G3 Privacy &amp; reproducibility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4"/>
          <p:cNvSpPr/>
          <p:nvPr/>
        </p:nvSpPr>
        <p:spPr>
          <a:xfrm>
            <a:off x="3931920" y="2633400"/>
            <a:ext cx="365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5"/>
          <p:cNvSpPr/>
          <p:nvPr/>
        </p:nvSpPr>
        <p:spPr>
          <a:xfrm>
            <a:off x="4389120" y="2523600"/>
            <a:ext cx="4388760" cy="639720"/>
          </a:xfrm>
          <a:prstGeom prst="roundRect">
            <a:avLst>
              <a:gd name="adj" fmla="val 10000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6"/>
          <p:cNvSpPr/>
          <p:nvPr/>
        </p:nvSpPr>
        <p:spPr>
          <a:xfrm>
            <a:off x="4526280" y="261504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PHI de-ID, self-hosted/offline mode, immutable audit logging (chunks 0.4, 0.12, 0.9)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7"/>
          <p:cNvSpPr/>
          <p:nvPr/>
        </p:nvSpPr>
        <p:spPr>
          <a:xfrm>
            <a:off x="365760" y="3282840"/>
            <a:ext cx="3474360" cy="639720"/>
          </a:xfrm>
          <a:prstGeom prst="roundRect">
            <a:avLst>
              <a:gd name="adj" fmla="val 11429"/>
            </a:avLst>
          </a:prstGeom>
          <a:solidFill>
            <a:srgbClr val="6d2e4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8"/>
          <p:cNvSpPr/>
          <p:nvPr/>
        </p:nvSpPr>
        <p:spPr>
          <a:xfrm>
            <a:off x="502920" y="337428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G4 Architectural limits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9"/>
          <p:cNvSpPr/>
          <p:nvPr/>
        </p:nvSpPr>
        <p:spPr>
          <a:xfrm>
            <a:off x="3931920" y="3392280"/>
            <a:ext cx="365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20"/>
          <p:cNvSpPr/>
          <p:nvPr/>
        </p:nvSpPr>
        <p:spPr>
          <a:xfrm>
            <a:off x="4389120" y="3282840"/>
            <a:ext cx="4388760" cy="639720"/>
          </a:xfrm>
          <a:prstGeom prst="roundRect">
            <a:avLst>
              <a:gd name="adj" fmla="val 10000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1"/>
          <p:cNvSpPr/>
          <p:nvPr/>
        </p:nvSpPr>
        <p:spPr>
          <a:xfrm>
            <a:off x="4526280" y="337428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Map-reduce hierarchical chunking + pluggable backends (chunks 0.5, 0.6)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22"/>
          <p:cNvSpPr/>
          <p:nvPr/>
        </p:nvSpPr>
        <p:spPr>
          <a:xfrm>
            <a:off x="365760" y="4041720"/>
            <a:ext cx="3474360" cy="63972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3"/>
          <p:cNvSpPr/>
          <p:nvPr/>
        </p:nvSpPr>
        <p:spPr>
          <a:xfrm>
            <a:off x="502920" y="413316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G5 Coverage / real-world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4"/>
          <p:cNvSpPr/>
          <p:nvPr/>
        </p:nvSpPr>
        <p:spPr>
          <a:xfrm>
            <a:off x="3931920" y="4151520"/>
            <a:ext cx="365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5"/>
          <p:cNvSpPr/>
          <p:nvPr/>
        </p:nvSpPr>
        <p:spPr>
          <a:xfrm>
            <a:off x="4389120" y="4041720"/>
            <a:ext cx="4388760" cy="639720"/>
          </a:xfrm>
          <a:prstGeom prst="roundRect">
            <a:avLst>
              <a:gd name="adj" fmla="val 10000"/>
            </a:avLst>
          </a:prstGeom>
          <a:solidFill>
            <a:srgbClr val="0f2040"/>
          </a:solidFill>
          <a:ln w="12700">
            <a:solidFill>
              <a:srgbClr val="dde6f0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6"/>
          <p:cNvSpPr/>
          <p:nvPr/>
        </p:nvSpPr>
        <p:spPr>
          <a:xfrm>
            <a:off x="4526280" y="413316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0aec0"/>
                </a:solidFill>
                <a:effectLst/>
                <a:uFillTx/>
                <a:latin typeface="Calibri"/>
                <a:ea typeface="Calibri"/>
              </a:rPr>
              <a:t>Multi-doc mode, multilingual architecture, prospective study mode (chunks 0.11, 0.14, 0.15)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LibreOffice/25.8.7.3$Linux_X86_64 LibreOffice_project/580$Build-3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2026-08-05T07:46:16Z</dcterms:created>
  <dc:creator>PptxGenJS</dc:creator>
  <dc:description/>
  <dc:language>en-US</dc:language>
  <cp:lastModifiedBy/>
  <dcterms:modified xsi:type="dcterms:W3CDTF">2026-08-05T18:56:41Z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